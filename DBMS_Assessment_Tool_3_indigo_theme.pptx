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4F46E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029200"/>
            <a:ext cx="3840480" cy="3840480"/>
          </a:xfrm>
          <a:prstGeom prst="ellipse">
            <a:avLst/>
          </a:prstGeom>
          <a:solidFill>
            <a:srgbClr val="7C3AED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5" name="Image 0" descr="/home/claude/dbms_full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85216"/>
            <a:ext cx="493776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41732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7" name="Image 1" descr="/home/claude/dbms_full/logo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585216"/>
            <a:ext cx="493776" cy="4937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94560" y="566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194560" y="8595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 ·  CSA05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40080" y="1874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TOOL 3  ·  CO1  ·  TECHNICAL PRESENTATION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Architecture, Data Models &amp;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ER/EER Modeling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technical presentations covering entity-relationship design, EER specialization, DBMS internals, and data independence.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40080" y="4892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4" name="Text 10"/>
          <p:cNvSpPr/>
          <p:nvPr/>
        </p:nvSpPr>
        <p:spPr>
          <a:xfrm>
            <a:off x="640080" y="4892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ER Diagram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496312" y="48920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6" name="Text 12"/>
          <p:cNvSpPr/>
          <p:nvPr/>
        </p:nvSpPr>
        <p:spPr>
          <a:xfrm>
            <a:off x="2496312" y="4892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EER Model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261104" y="48920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8" name="Text 14"/>
          <p:cNvSpPr/>
          <p:nvPr/>
        </p:nvSpPr>
        <p:spPr>
          <a:xfrm>
            <a:off x="4261104" y="4892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Data Independence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757416" y="48920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0" name="Text 16"/>
          <p:cNvSpPr/>
          <p:nvPr/>
        </p:nvSpPr>
        <p:spPr>
          <a:xfrm>
            <a:off x="6757416" y="4892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DBMS Components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9070848" y="489204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22" name="Text 18"/>
          <p:cNvSpPr/>
          <p:nvPr/>
        </p:nvSpPr>
        <p:spPr>
          <a:xfrm>
            <a:off x="9070848" y="4892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Strong vs Weak Entities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Aman Ahmmed  |  SIMATS Engineering  |  Assessment Tool 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3" name="Image 0" descr="/home/claude/dbms_full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20040"/>
            <a:ext cx="438912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274552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5" name="Image 1" descr="/home/claude/dbms_full/logo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20040"/>
            <a:ext cx="438912" cy="43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  ·  DBMS  ·  CSA05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 ·  TECHNICAL PRESENTATION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8686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for an Online Library System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ER concepts, then the six entities the system must track.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1993392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1993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51560" y="19659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606040" y="196596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 object the system tracks — Book, Member, Author, Loan.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051560" y="253288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2606040" y="253288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describing an entity — ISBN, Title, MemberID, DueDate.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312724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5"/>
          <p:cNvSpPr/>
          <p:nvPr/>
        </p:nvSpPr>
        <p:spPr>
          <a:xfrm>
            <a:off x="548640" y="3127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051560" y="309981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2606040" y="309981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two entities interact — a Member BORROWS a Book.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48640" y="3694176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19"/>
          <p:cNvSpPr/>
          <p:nvPr/>
        </p:nvSpPr>
        <p:spPr>
          <a:xfrm>
            <a:off x="548640" y="3694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051560" y="366674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Cardinality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2606040" y="366674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instances relate — one Member can have many Loans.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989320" y="1965960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153912" y="213055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F46E5"/>
          </a:solidFill>
          <a:ln/>
        </p:spPr>
      </p:sp>
      <p:sp>
        <p:nvSpPr>
          <p:cNvPr id="28" name="Text 24"/>
          <p:cNvSpPr/>
          <p:nvPr/>
        </p:nvSpPr>
        <p:spPr>
          <a:xfrm>
            <a:off x="6153912" y="2532888"/>
            <a:ext cx="1819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153912" y="2862072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ISBN, Genre, Copies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8366760" y="1965960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531352" y="213055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7C3AED"/>
          </a:solidFill>
          <a:ln/>
        </p:spPr>
      </p:sp>
      <p:sp>
        <p:nvSpPr>
          <p:cNvPr id="32" name="Text 28"/>
          <p:cNvSpPr/>
          <p:nvPr/>
        </p:nvSpPr>
        <p:spPr>
          <a:xfrm>
            <a:off x="8531352" y="2532888"/>
            <a:ext cx="1819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8531352" y="2862072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MemberID, Name, Email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5989320" y="3401568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153912" y="356616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8B5CF6"/>
          </a:solidFill>
          <a:ln/>
        </p:spPr>
      </p:sp>
      <p:sp>
        <p:nvSpPr>
          <p:cNvPr id="36" name="Text 32"/>
          <p:cNvSpPr/>
          <p:nvPr/>
        </p:nvSpPr>
        <p:spPr>
          <a:xfrm>
            <a:off x="6153912" y="3968496"/>
            <a:ext cx="1819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6153912" y="4297680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AuthorID, Name, Nationality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8366760" y="3401568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8531352" y="356616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F46E5"/>
          </a:solidFill>
          <a:ln/>
        </p:spPr>
      </p:sp>
      <p:sp>
        <p:nvSpPr>
          <p:cNvPr id="40" name="Text 36"/>
          <p:cNvSpPr/>
          <p:nvPr/>
        </p:nvSpPr>
        <p:spPr>
          <a:xfrm>
            <a:off x="8531352" y="3968496"/>
            <a:ext cx="1819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8531352" y="4297680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LoanID, IssueDate, DueDate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5989320" y="4837176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6153912" y="500176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7C3AED"/>
          </a:solidFill>
          <a:ln/>
        </p:spPr>
      </p:sp>
      <p:sp>
        <p:nvSpPr>
          <p:cNvPr id="44" name="Text 40"/>
          <p:cNvSpPr/>
          <p:nvPr/>
        </p:nvSpPr>
        <p:spPr>
          <a:xfrm>
            <a:off x="6153912" y="5404104"/>
            <a:ext cx="1819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LIBRARIAN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6153912" y="573328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StaffID, Name, ShiftDesk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8366760" y="4837176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8531352" y="500176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8B5CF6"/>
          </a:solidFill>
          <a:ln/>
        </p:spPr>
      </p:sp>
      <p:sp>
        <p:nvSpPr>
          <p:cNvPr id="48" name="Text 44"/>
          <p:cNvSpPr/>
          <p:nvPr/>
        </p:nvSpPr>
        <p:spPr>
          <a:xfrm>
            <a:off x="8531352" y="5404104"/>
            <a:ext cx="1819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PUBLISHER</a:t>
            </a:r>
            <a:endParaRPr lang="en-US" sz="1300" dirty="0"/>
          </a:p>
        </p:txBody>
      </p:sp>
      <p:sp>
        <p:nvSpPr>
          <p:cNvPr id="49" name="Text 45"/>
          <p:cNvSpPr/>
          <p:nvPr/>
        </p:nvSpPr>
        <p:spPr>
          <a:xfrm>
            <a:off x="8531352" y="573328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PublisherID, Name, City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3" name="Image 0" descr="/home/claude/dbms_full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20040"/>
            <a:ext cx="438912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274552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5" name="Image 1" descr="/home/claude/dbms_full/logo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20040"/>
            <a:ext cx="438912" cy="43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  ·  DBMS  ·  CSA05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 ·  TECHNICAL PRESENTATION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868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ER Diagram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48640" y="135331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Rectangles = entities   ·   Diamonds = relationships   ·   Labels = cardinality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57200" y="1828800"/>
            <a:ext cx="1828800" cy="594360"/>
          </a:xfrm>
          <a:prstGeom prst="roundRect">
            <a:avLst>
              <a:gd name="adj" fmla="val 10769"/>
            </a:avLst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1828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9875520" y="1828800"/>
            <a:ext cx="1828800" cy="594360"/>
          </a:xfrm>
          <a:prstGeom prst="roundRect">
            <a:avLst>
              <a:gd name="adj" fmla="val 10769"/>
            </a:avLst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875520" y="1828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166360" y="3063240"/>
            <a:ext cx="1828800" cy="594360"/>
          </a:xfrm>
          <a:prstGeom prst="roundRect">
            <a:avLst>
              <a:gd name="adj" fmla="val 10769"/>
            </a:avLst>
          </a:prstGeom>
          <a:solidFill>
            <a:srgbClr val="4F46E5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166360" y="3063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365760" y="5623560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4F46E5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65760" y="5623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9784080" y="5623560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4F46E5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9784080" y="5623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074920" y="5623560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312E81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074920" y="5623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3566160" y="2148840"/>
            <a:ext cx="1463040" cy="731520"/>
          </a:xfrm>
          <a:prstGeom prst="diamond">
            <a:avLst/>
          </a:prstGeom>
          <a:solidFill>
            <a:srgbClr val="8B5C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566160" y="21488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132320" y="2148840"/>
            <a:ext cx="1463040" cy="731520"/>
          </a:xfrm>
          <a:prstGeom prst="diamond">
            <a:avLst/>
          </a:prstGeom>
          <a:solidFill>
            <a:srgbClr val="8B5C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132320" y="21488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by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103120" y="4251960"/>
            <a:ext cx="1737360" cy="777240"/>
          </a:xfrm>
          <a:prstGeom prst="diamond">
            <a:avLst/>
          </a:prstGeom>
          <a:solidFill>
            <a:srgbClr val="8B5C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103120" y="42519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8229600" y="4251960"/>
            <a:ext cx="1737360" cy="777240"/>
          </a:xfrm>
          <a:prstGeom prst="diamond">
            <a:avLst/>
          </a:prstGeom>
          <a:solidFill>
            <a:srgbClr val="8B5C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229600" y="42519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1371600" y="2423160"/>
            <a:ext cx="2926080" cy="9144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029200" y="2514600"/>
            <a:ext cx="1051560" cy="54864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 flipV="1">
            <a:off x="6995160" y="2514600"/>
            <a:ext cx="868680" cy="841248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 flipV="1">
            <a:off x="8595360" y="2423160"/>
            <a:ext cx="2194560" cy="9144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 flipV="1">
            <a:off x="1371600" y="5029200"/>
            <a:ext cx="1600200" cy="59436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971800" y="5029200"/>
            <a:ext cx="2103120" cy="86868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080760" y="3657600"/>
            <a:ext cx="0" cy="196596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 flipV="1">
            <a:off x="9098280" y="5029200"/>
            <a:ext cx="1691640" cy="59436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086600" y="5029200"/>
            <a:ext cx="2011680" cy="86868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2331720" y="2194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4160520" y="2194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6309360" y="2194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8138160" y="2194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1691640" y="4434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3566160" y="4434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5806440" y="5349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9418320" y="4434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7589520" y="4434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3" name="Image 0" descr="/home/claude/dbms_full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20040"/>
            <a:ext cx="438912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274552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5" name="Image 1" descr="/home/claude/dbms_full/logo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20040"/>
            <a:ext cx="438912" cy="43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  ·  DBMS  ·  CSA05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 ·  TECHNICAL PRESENTATION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8686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ER Diagram to Relational Schema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entity becomes a table; each 1:M relationship becomes a foreign key on the 'many' side.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20116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2468880"/>
            <a:ext cx="3611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24688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(PK)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2852928"/>
            <a:ext cx="361188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285292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236976"/>
            <a:ext cx="3611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323697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621024"/>
            <a:ext cx="361188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362102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AuthorID (FK)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48640" y="4005072"/>
            <a:ext cx="3611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85800" y="400507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PublisherID (FK)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343400" y="201168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/>
        </p:spPr>
      </p:sp>
      <p:sp>
        <p:nvSpPr>
          <p:cNvPr id="23" name="Text 19"/>
          <p:cNvSpPr/>
          <p:nvPr/>
        </p:nvSpPr>
        <p:spPr>
          <a:xfrm>
            <a:off x="4343400" y="20116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4343400" y="2468880"/>
            <a:ext cx="3611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480560" y="24688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 (PK)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343400" y="2852928"/>
            <a:ext cx="361188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480560" y="285292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343400" y="3236976"/>
            <a:ext cx="3611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480560" y="323697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138160" y="201168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/>
        </p:spPr>
      </p:sp>
      <p:sp>
        <p:nvSpPr>
          <p:cNvPr id="31" name="Text 27"/>
          <p:cNvSpPr/>
          <p:nvPr/>
        </p:nvSpPr>
        <p:spPr>
          <a:xfrm>
            <a:off x="8138160" y="20116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8138160" y="2468880"/>
            <a:ext cx="3611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275320" y="24688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LoanID (PK)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8138160" y="2852928"/>
            <a:ext cx="361188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275320" y="285292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(FK)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8138160" y="3236976"/>
            <a:ext cx="3611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275320" y="323697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 (FK)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8138160" y="3621024"/>
            <a:ext cx="361188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275320" y="362102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StaffID (FK)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8138160" y="4005072"/>
            <a:ext cx="3611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275320" y="400507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DueDate</a:t>
            </a:r>
            <a:endParaRPr lang="en-US" sz="1150" dirty="0"/>
          </a:p>
        </p:txBody>
      </p:sp>
      <p:sp>
        <p:nvSpPr>
          <p:cNvPr id="42" name="Text 38"/>
          <p:cNvSpPr/>
          <p:nvPr/>
        </p:nvSpPr>
        <p:spPr>
          <a:xfrm>
            <a:off x="548640" y="5257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LOAN is a junction / associative table resolving the M:N usage pattern between BOOK and MEMBER over time.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3" name="Image 0" descr="/home/claude/dbms_full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20040"/>
            <a:ext cx="438912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274552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5" name="Image 1" descr="/home/claude/dbms_full/logo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20040"/>
            <a:ext cx="438912" cy="43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  ·  DBMS  ·  CSA05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 ·  TECHNICAL PRESENTATION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8686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EER Model — Generalization &amp; Specialization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ER with class hierarchies and inheritance, using a University case study.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057400"/>
            <a:ext cx="3017520" cy="1051560"/>
          </a:xfrm>
          <a:prstGeom prst="roundRect">
            <a:avLst>
              <a:gd name="adj" fmla="val 7826"/>
            </a:avLst>
          </a:prstGeom>
          <a:solidFill>
            <a:srgbClr val="4F46E5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20574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794760" y="2130552"/>
            <a:ext cx="7818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top-down process: define subclasses of an entity that have distinct attributes or relationships. E.g., splitting PERSON into STUDENT and FACULTY.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383280"/>
            <a:ext cx="3017520" cy="1051560"/>
          </a:xfrm>
          <a:prstGeom prst="roundRect">
            <a:avLst>
              <a:gd name="adj" fmla="val 7826"/>
            </a:avLst>
          </a:prstGeom>
          <a:solidFill>
            <a:srgbClr val="7C3AED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" y="338328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794760" y="3456432"/>
            <a:ext cx="7818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reverse, bottom-up process: combine common attributes of several entity types into one superclass. E.g., merging STUDENT and FACULTY into PERSON.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709160"/>
            <a:ext cx="3017520" cy="1051560"/>
          </a:xfrm>
          <a:prstGeom prst="roundRect">
            <a:avLst>
              <a:gd name="adj" fmla="val 7826"/>
            </a:avLst>
          </a:prstGeom>
          <a:solidFill>
            <a:srgbClr val="4F46E5"/>
          </a:solidFill>
          <a:ln/>
        </p:spPr>
      </p:sp>
      <p:sp>
        <p:nvSpPr>
          <p:cNvPr id="17" name="Text 13"/>
          <p:cNvSpPr/>
          <p:nvPr/>
        </p:nvSpPr>
        <p:spPr>
          <a:xfrm>
            <a:off x="548640" y="470916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794760" y="4782312"/>
            <a:ext cx="7818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inherits every attribute and relationship of its superclass, and adds its own on top — STUDENT still has Name and Email from PERSON.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3" name="Image 0" descr="/home/claude/dbms_full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20040"/>
            <a:ext cx="438912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274552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5" name="Image 1" descr="/home/claude/dbms_full/logo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20040"/>
            <a:ext cx="438912" cy="43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  ·  DBMS  ·  CSA05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 ·  TECHNICAL PRESENTATION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8686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Case Study — EER Diagram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48640" y="135331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specializes into STUDENT and FACULTY through a disjoint (d) specialization circle.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937760" y="1920240"/>
            <a:ext cx="2286000" cy="640080"/>
          </a:xfrm>
          <a:prstGeom prst="roundRect">
            <a:avLst>
              <a:gd name="adj" fmla="val 10000"/>
            </a:avLst>
          </a:prstGeom>
          <a:solidFill>
            <a:srgbClr val="312E81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37760" y="1920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93776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PersonID, Name, Email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080760" y="2560320"/>
            <a:ext cx="0" cy="68580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23560" y="3246120"/>
            <a:ext cx="914400" cy="548640"/>
          </a:xfrm>
          <a:prstGeom prst="ellipse">
            <a:avLst/>
          </a:prstGeom>
          <a:solidFill>
            <a:srgbClr val="8B5C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623560" y="3246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2926080" y="3794760"/>
            <a:ext cx="3154680" cy="86868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80760" y="3794760"/>
            <a:ext cx="3154680" cy="86868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737360" y="466344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1737360" y="4663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737360" y="5349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RollNo, Major, EnrollmentYear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8046720" y="466344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8046720" y="4663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046720" y="5349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EmployeeID, Department, Designation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48640" y="6035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'd' = disjoint specialization — every PERSON is a Student OR a Faculty member, never both.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3" name="Image 0" descr="/home/claude/dbms_full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20040"/>
            <a:ext cx="438912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274552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5" name="Image 1" descr="/home/claude/dbms_full/logo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20040"/>
            <a:ext cx="438912" cy="43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  ·  DBMS  ·  CSA05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 ·  TECHNICAL PRESENTATION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8686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 Constraints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choices govern how a superclass relates to its subclasses.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196596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7240" y="214884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4F46E5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" y="21488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(d)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77240" y="262432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instance can belong to at most one subclass. A PERSON is either a Student or a Faculty member — never both.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63640" y="196596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214884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7C3AED"/>
          </a:solidFill>
          <a:ln/>
        </p:spPr>
      </p:sp>
      <p:sp>
        <p:nvSpPr>
          <p:cNvPr id="16" name="Text 12"/>
          <p:cNvSpPr/>
          <p:nvPr/>
        </p:nvSpPr>
        <p:spPr>
          <a:xfrm>
            <a:off x="6492240" y="21488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(o)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492240" y="262432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instance can belong to more than one subclass at once. A Faculty member who is also a PhD Student belongs to both.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9319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" y="411480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4F46E5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41148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Participation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777240" y="459028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in the superclass must belong to at least one subclass. Every PERSON in this system must be a Student or Faculty.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263640" y="39319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92240" y="411480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7C3AED"/>
          </a:solidFill>
          <a:ln/>
        </p:spPr>
      </p:sp>
      <p:sp>
        <p:nvSpPr>
          <p:cNvPr id="24" name="Text 20"/>
          <p:cNvSpPr/>
          <p:nvPr/>
        </p:nvSpPr>
        <p:spPr>
          <a:xfrm>
            <a:off x="6492240" y="41148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Participation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492240" y="459028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superclass entities may not belong to any subclass. A general VISITOR entity, for example, wouldn't need a subclass.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3" name="Image 0" descr="/home/claude/dbms_full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20040"/>
            <a:ext cx="438912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274552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5" name="Image 1" descr="/home/claude/dbms_full/logo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20040"/>
            <a:ext cx="438912" cy="43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  ·  DBMS  ·  CSA05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 ·  TECHNICAL PRESENTATION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8686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Independence &amp; the Three-Schema Architecture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independence boundaries let each layer change without breaking the others.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1188720" y="196596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18872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1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480560" y="196596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48056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2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772400" y="196596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77240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74320" y="21031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SCHEMA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377440" y="2514600"/>
            <a:ext cx="0" cy="36576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669280" y="2514600"/>
            <a:ext cx="0" cy="36576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961120" y="2514600"/>
            <a:ext cx="0" cy="36576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2697480"/>
            <a:ext cx="1088136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</a:ln>
        </p:spPr>
      </p:sp>
      <p:sp>
        <p:nvSpPr>
          <p:cNvPr id="21" name="Text 17"/>
          <p:cNvSpPr/>
          <p:nvPr/>
        </p:nvSpPr>
        <p:spPr>
          <a:xfrm>
            <a:off x="3931920" y="27249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Data Independence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480560" y="3200400"/>
            <a:ext cx="3200400" cy="594360"/>
          </a:xfrm>
          <a:prstGeom prst="roundRect">
            <a:avLst>
              <a:gd name="adj" fmla="val 10769"/>
            </a:avLst>
          </a:prstGeom>
          <a:solidFill>
            <a:srgbClr val="312E81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4480560" y="32004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SCHEMA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480560" y="3822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logical structure of the whole database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080760" y="4160520"/>
            <a:ext cx="0" cy="36576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48640" y="4343400"/>
            <a:ext cx="1088136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</a:ln>
        </p:spPr>
      </p:sp>
      <p:sp>
        <p:nvSpPr>
          <p:cNvPr id="27" name="Text 23"/>
          <p:cNvSpPr/>
          <p:nvPr/>
        </p:nvSpPr>
        <p:spPr>
          <a:xfrm>
            <a:off x="3931920" y="43708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Independence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480560" y="4846320"/>
            <a:ext cx="3200400" cy="594360"/>
          </a:xfrm>
          <a:prstGeom prst="roundRect">
            <a:avLst>
              <a:gd name="adj" fmla="val 10769"/>
            </a:avLst>
          </a:prstGeom>
          <a:solidFill>
            <a:srgbClr val="4F46E5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4480560" y="4846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SCHEMA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4480560" y="54681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storage structures, indexes, file organization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480560" y="5989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Database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3" name="Image 0" descr="/home/claude/dbms_full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20040"/>
            <a:ext cx="438912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274552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5" name="Image 1" descr="/home/claude/dbms_full/logo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20040"/>
            <a:ext cx="438912" cy="43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  ·  DBMS  ·  CSA05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 ·  TECHNICAL PRESENTATION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8686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vs Physical Data Independence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principle — isolate one layer from changes in the layer below it.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1874520"/>
            <a:ext cx="5349240" cy="502920"/>
          </a:xfrm>
          <a:prstGeom prst="roundRect">
            <a:avLst>
              <a:gd name="adj" fmla="val 12727"/>
            </a:avLst>
          </a:prstGeom>
          <a:solidFill>
            <a:srgbClr val="4F46E5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187452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DATA INDEPENDENCE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63640" y="1874520"/>
            <a:ext cx="5349240" cy="502920"/>
          </a:xfrm>
          <a:prstGeom prst="roundRect">
            <a:avLst>
              <a:gd name="adj" fmla="val 12727"/>
            </a:avLst>
          </a:prstGeom>
          <a:solidFill>
            <a:srgbClr val="7C3AED"/>
          </a:solidFill>
          <a:ln/>
        </p:spPr>
      </p:sp>
      <p:sp>
        <p:nvSpPr>
          <p:cNvPr id="13" name="Text 9"/>
          <p:cNvSpPr/>
          <p:nvPr/>
        </p:nvSpPr>
        <p:spPr>
          <a:xfrm>
            <a:off x="6263640" y="187452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DATA INDEPENDENCE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2514600"/>
            <a:ext cx="5349240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1520" y="2514600"/>
            <a:ext cx="4983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the conceptual schema from external schemas / apps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63640" y="2514600"/>
            <a:ext cx="5349240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2514600"/>
            <a:ext cx="4983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the internal (storage) schema from the conceptual schema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291840"/>
            <a:ext cx="5349240" cy="704088"/>
          </a:xfrm>
          <a:prstGeom prst="rect">
            <a:avLst/>
          </a:prstGeom>
          <a:solidFill>
            <a:srgbClr val="EEF2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31520" y="3291840"/>
            <a:ext cx="4983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adding a new attribute or table to the database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263640" y="3291840"/>
            <a:ext cx="5349240" cy="704088"/>
          </a:xfrm>
          <a:prstGeom prst="rect">
            <a:avLst/>
          </a:prstGeom>
          <a:solidFill>
            <a:srgbClr val="EEF2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46520" y="3291840"/>
            <a:ext cx="4983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changing an index, file organization, or storage device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4069080"/>
            <a:ext cx="5349240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31520" y="4069080"/>
            <a:ext cx="4983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achieve — application logic often assumes the schema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263640" y="4069080"/>
            <a:ext cx="5349240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46520" y="4069080"/>
            <a:ext cx="4983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achieve — storage details rarely leak into the schema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48640" y="4846320"/>
            <a:ext cx="5349240" cy="704088"/>
          </a:xfrm>
          <a:prstGeom prst="rect">
            <a:avLst/>
          </a:prstGeom>
          <a:solidFill>
            <a:srgbClr val="EEF2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31520" y="4846320"/>
            <a:ext cx="4983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Protects: External Schema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263640" y="4846320"/>
            <a:ext cx="5349240" cy="704088"/>
          </a:xfrm>
          <a:prstGeom prst="rect">
            <a:avLst/>
          </a:prstGeom>
          <a:solidFill>
            <a:srgbClr val="EEF2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46520" y="4846320"/>
            <a:ext cx="4983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Protects: Conceptual Schema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3" name="Image 0" descr="/home/claude/dbms_full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20040"/>
            <a:ext cx="438912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274552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5" name="Image 1" descr="/home/claude/dbms_full/logo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20040"/>
            <a:ext cx="438912" cy="43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  ·  DBMS  ·  CSA05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 ·  TECHNICAL PRESENTATION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8686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Components of a DBMS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query flows from the user down to physical storage.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09160" y="1874520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312E81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709160" y="1874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APPLICATIONS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80760" y="2423160"/>
            <a:ext cx="0" cy="32004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09160" y="2743200"/>
            <a:ext cx="2743200" cy="594360"/>
          </a:xfrm>
          <a:prstGeom prst="roundRect">
            <a:avLst>
              <a:gd name="adj" fmla="val 10769"/>
            </a:avLst>
          </a:prstGeom>
          <a:solidFill>
            <a:srgbClr val="4F46E5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709160" y="27432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709160" y="3364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Parses, optimizes &amp; executes SQL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834640" y="3200400"/>
            <a:ext cx="2560320" cy="82296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766560" y="3200400"/>
            <a:ext cx="2377440" cy="82296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463040" y="4023360"/>
            <a:ext cx="2743200" cy="594360"/>
          </a:xfrm>
          <a:prstGeom prst="roundRect">
            <a:avLst>
              <a:gd name="adj" fmla="val 10769"/>
            </a:avLst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1463040" y="40233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463040" y="4645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Buffer, file &amp; authorization control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7772400" y="4023360"/>
            <a:ext cx="2743200" cy="594360"/>
          </a:xfrm>
          <a:prstGeom prst="roundRect">
            <a:avLst>
              <a:gd name="adj" fmla="val 10769"/>
            </a:avLst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7772400" y="40233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772400" y="4645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ACID, concurrency &amp; recovery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834640" y="4617720"/>
            <a:ext cx="2560320" cy="86868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766560" y="4617720"/>
            <a:ext cx="2377440" cy="86868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709160" y="5486400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8B5C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4709160" y="5486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(DISK STORAGE)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3" name="Image 0" descr="/home/claude/dbms_full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20040"/>
            <a:ext cx="438912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274552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5" name="Image 1" descr="/home/claude/dbms_full/logo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20040"/>
            <a:ext cx="438912" cy="43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  ·  DBMS  ·  CSA05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 ·  TECHNICAL PRESENTATION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8686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Component Actually Does</a:t>
            </a:r>
            <a:endParaRPr lang="en-US" sz="2700" dirty="0"/>
          </a:p>
        </p:txBody>
      </p:sp>
      <p:sp>
        <p:nvSpPr>
          <p:cNvPr id="9" name="Shape 5"/>
          <p:cNvSpPr/>
          <p:nvPr/>
        </p:nvSpPr>
        <p:spPr>
          <a:xfrm>
            <a:off x="548640" y="201168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2011680"/>
            <a:ext cx="3520440" cy="594360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/>
        </p:spPr>
      </p:sp>
      <p:sp>
        <p:nvSpPr>
          <p:cNvPr id="11" name="Shape 7"/>
          <p:cNvSpPr/>
          <p:nvPr/>
        </p:nvSpPr>
        <p:spPr>
          <a:xfrm>
            <a:off x="548640" y="2304288"/>
            <a:ext cx="3520440" cy="3017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" y="20116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Processor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77240" y="2916936"/>
            <a:ext cx="128016" cy="12801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0"/>
          <p:cNvSpPr/>
          <p:nvPr/>
        </p:nvSpPr>
        <p:spPr>
          <a:xfrm>
            <a:off x="1051560" y="27432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SQL into an internal representation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77240" y="3831336"/>
            <a:ext cx="128016" cy="12801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2"/>
          <p:cNvSpPr/>
          <p:nvPr/>
        </p:nvSpPr>
        <p:spPr>
          <a:xfrm>
            <a:off x="1051560" y="36576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picks the fastest execution plan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77240" y="4745736"/>
            <a:ext cx="128016" cy="12801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4"/>
          <p:cNvSpPr/>
          <p:nvPr/>
        </p:nvSpPr>
        <p:spPr>
          <a:xfrm>
            <a:off x="1051560" y="45720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DDL and DML statements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389120" y="201168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389120" y="2011680"/>
            <a:ext cx="3520440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21" name="Shape 17"/>
          <p:cNvSpPr/>
          <p:nvPr/>
        </p:nvSpPr>
        <p:spPr>
          <a:xfrm>
            <a:off x="4389120" y="2304288"/>
            <a:ext cx="3520440" cy="3017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18"/>
          <p:cNvSpPr/>
          <p:nvPr/>
        </p:nvSpPr>
        <p:spPr>
          <a:xfrm>
            <a:off x="4389120" y="20116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Manager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4617720" y="2916936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0"/>
          <p:cNvSpPr/>
          <p:nvPr/>
        </p:nvSpPr>
        <p:spPr>
          <a:xfrm>
            <a:off x="4892040" y="27432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manager controls what's cached in memory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617720" y="3831336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2"/>
          <p:cNvSpPr/>
          <p:nvPr/>
        </p:nvSpPr>
        <p:spPr>
          <a:xfrm>
            <a:off x="4892040" y="36576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manager maps data to disk blocks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617720" y="4745736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4"/>
          <p:cNvSpPr/>
          <p:nvPr/>
        </p:nvSpPr>
        <p:spPr>
          <a:xfrm>
            <a:off x="4892040" y="45720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&amp; integrity manager enforces constraints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229600" y="201168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229600" y="2011680"/>
            <a:ext cx="3520440" cy="594360"/>
          </a:xfrm>
          <a:prstGeom prst="roundRect">
            <a:avLst>
              <a:gd name="adj" fmla="val 15385"/>
            </a:avLst>
          </a:prstGeom>
          <a:solidFill>
            <a:srgbClr val="8B5CF6"/>
          </a:solidFill>
          <a:ln/>
        </p:spPr>
      </p:sp>
      <p:sp>
        <p:nvSpPr>
          <p:cNvPr id="31" name="Shape 27"/>
          <p:cNvSpPr/>
          <p:nvPr/>
        </p:nvSpPr>
        <p:spPr>
          <a:xfrm>
            <a:off x="8229600" y="2304288"/>
            <a:ext cx="3520440" cy="3017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28"/>
          <p:cNvSpPr/>
          <p:nvPr/>
        </p:nvSpPr>
        <p:spPr>
          <a:xfrm>
            <a:off x="8229600" y="20116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Manager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8458200" y="2916936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4" name="Text 30"/>
          <p:cNvSpPr/>
          <p:nvPr/>
        </p:nvSpPr>
        <p:spPr>
          <a:xfrm>
            <a:off x="8732520" y="27432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ACID properties for every transaction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8458200" y="3831336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6" name="Text 32"/>
          <p:cNvSpPr/>
          <p:nvPr/>
        </p:nvSpPr>
        <p:spPr>
          <a:xfrm>
            <a:off x="8732520" y="36576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 coordinates simultaneous users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8458200" y="4745736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8" name="Text 34"/>
          <p:cNvSpPr/>
          <p:nvPr/>
        </p:nvSpPr>
        <p:spPr>
          <a:xfrm>
            <a:off x="8732520" y="45720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manager restores state after a crash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3" name="Image 0" descr="/home/claude/dbms_full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20040"/>
            <a:ext cx="438912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274552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5" name="Image 1" descr="/home/claude/dbms_full/logo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20040"/>
            <a:ext cx="438912" cy="43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  ·  DBMS  ·  CSA05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 ·  TECHNICAL PRESENTATION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8686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vs Weak Entities in ER Modeling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548640" y="13990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needs a way to be uniquely identified — some borrow it from another entity.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01168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8640" y="2011680"/>
            <a:ext cx="5349240" cy="5943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" y="201168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ENTITY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22960" y="2926080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0"/>
          <p:cNvSpPr/>
          <p:nvPr/>
        </p:nvSpPr>
        <p:spPr>
          <a:xfrm>
            <a:off x="1097280" y="27889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primary key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3584448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2"/>
          <p:cNvSpPr/>
          <p:nvPr/>
        </p:nvSpPr>
        <p:spPr>
          <a:xfrm>
            <a:off x="1097280" y="344728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independently of other entities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22960" y="4242816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4"/>
          <p:cNvSpPr/>
          <p:nvPr/>
        </p:nvSpPr>
        <p:spPr>
          <a:xfrm>
            <a:off x="1097280" y="410565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as a single rectangle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22960" y="4901184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0" name="Text 16"/>
          <p:cNvSpPr/>
          <p:nvPr/>
        </p:nvSpPr>
        <p:spPr>
          <a:xfrm>
            <a:off x="1097280" y="476402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EMPLOYEE (EmpID as PK)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263640" y="201168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63640" y="2011680"/>
            <a:ext cx="534924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19"/>
          <p:cNvSpPr/>
          <p:nvPr/>
        </p:nvSpPr>
        <p:spPr>
          <a:xfrm>
            <a:off x="6263640" y="201168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ENTITY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537960" y="292608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1"/>
          <p:cNvSpPr/>
          <p:nvPr/>
        </p:nvSpPr>
        <p:spPr>
          <a:xfrm>
            <a:off x="6812280" y="27889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primary key of its own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537960" y="3584448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3"/>
          <p:cNvSpPr/>
          <p:nvPr/>
        </p:nvSpPr>
        <p:spPr>
          <a:xfrm>
            <a:off x="6812280" y="344728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a strong (owner) entity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537960" y="424281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5"/>
          <p:cNvSpPr/>
          <p:nvPr/>
        </p:nvSpPr>
        <p:spPr>
          <a:xfrm>
            <a:off x="6812280" y="410565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via a partial key + identifying relationship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537960" y="4901184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7"/>
          <p:cNvSpPr/>
          <p:nvPr/>
        </p:nvSpPr>
        <p:spPr>
          <a:xfrm>
            <a:off x="6812280" y="476402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DEPENDENT (depends on EMPLOYEE)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3" name="Image 0" descr="/home/claude/dbms_full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20040"/>
            <a:ext cx="438912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274552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5" name="Image 1" descr="/home/claude/dbms_full/logo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20040"/>
            <a:ext cx="438912" cy="43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  ·  DBMS  ·  CSA05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 ·  TECHNICAL PRESENTATION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8686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Notation: Strong &amp; Weak Entities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48640" y="135331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double rectangle marks a weak entity; a double diamond marks its identifying relationship.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914400" y="33375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14400" y="3337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1440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EmpID (PK), Name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09160" y="3154680"/>
            <a:ext cx="1737360" cy="1005840"/>
          </a:xfrm>
          <a:prstGeom prst="diamond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64608" y="3291840"/>
            <a:ext cx="1426464" cy="731520"/>
          </a:xfrm>
          <a:prstGeom prst="diamond">
            <a:avLst/>
          </a:prstGeom>
          <a:solidFill>
            <a:srgbClr val="8B5C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09160" y="31546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0" y="3273552"/>
            <a:ext cx="265176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6760" y="3364992"/>
            <a:ext cx="2377440" cy="585216"/>
          </a:xfrm>
          <a:prstGeom prst="roundRect">
            <a:avLst>
              <a:gd name="adj" fmla="val 10938"/>
            </a:avLst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818CF8">
                <a:alpha val="2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366760" y="3364992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229600" y="4096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(partial key), DOB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291840" y="3657600"/>
            <a:ext cx="1417320" cy="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46520" y="3657600"/>
            <a:ext cx="1783080" cy="0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29000" y="3383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589520" y="3383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53949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EMPLOYEE has many DEPENDENTs — but a DEPENDENT record only makes sense together with its owning EmpID.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3" name="Image 0" descr="/home/claude/dbms_full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20040"/>
            <a:ext cx="438912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274552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5" name="Image 1" descr="/home/claude/dbms_full/logo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20040"/>
            <a:ext cx="438912" cy="43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  ·  DBMS  ·  CSA05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 ·  TECHNICAL PRESENTATION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8686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&amp; Weak Entities — Real-World Examples</a:t>
            </a:r>
            <a:endParaRPr lang="en-US" sz="2700" dirty="0"/>
          </a:p>
        </p:txBody>
      </p:sp>
      <p:sp>
        <p:nvSpPr>
          <p:cNvPr id="9" name="Shape 5"/>
          <p:cNvSpPr/>
          <p:nvPr/>
        </p:nvSpPr>
        <p:spPr>
          <a:xfrm>
            <a:off x="548640" y="1920240"/>
            <a:ext cx="5349240" cy="502920"/>
          </a:xfrm>
          <a:prstGeom prst="roundRect">
            <a:avLst>
              <a:gd name="adj" fmla="val 12727"/>
            </a:avLst>
          </a:prstGeom>
          <a:solidFill>
            <a:srgbClr val="4F46E5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19202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ENTITY  (own primary key)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63640" y="1920240"/>
            <a:ext cx="5349240" cy="502920"/>
          </a:xfrm>
          <a:prstGeom prst="roundRect">
            <a:avLst>
              <a:gd name="adj" fmla="val 12727"/>
            </a:avLst>
          </a:prstGeom>
          <a:solidFill>
            <a:srgbClr val="7C3AED"/>
          </a:solidFill>
          <a:ln/>
        </p:spPr>
      </p:sp>
      <p:sp>
        <p:nvSpPr>
          <p:cNvPr id="12" name="Text 8"/>
          <p:cNvSpPr/>
          <p:nvPr/>
        </p:nvSpPr>
        <p:spPr>
          <a:xfrm>
            <a:off x="6263640" y="19202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ENTITY  (borrows owner's key)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2560320"/>
            <a:ext cx="5349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" y="25603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 —  EmpID (PK)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63640" y="2560320"/>
            <a:ext cx="5349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92240" y="25603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 —  Name, tied to EmpID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3429000"/>
            <a:ext cx="5349240" cy="777240"/>
          </a:xfrm>
          <a:prstGeom prst="rect">
            <a:avLst/>
          </a:prstGeom>
          <a:solidFill>
            <a:srgbClr val="EEF2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77240" y="34290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 —  OrderID (PK)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263640" y="3429000"/>
            <a:ext cx="5349240" cy="777240"/>
          </a:xfrm>
          <a:prstGeom prst="rect">
            <a:avLst/>
          </a:prstGeom>
          <a:solidFill>
            <a:srgbClr val="EEF2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92240" y="34290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  —  LineNo, tied to OrderID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4297680"/>
            <a:ext cx="5349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77240" y="42976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 —  CustomerID (PK)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263640" y="4297680"/>
            <a:ext cx="5349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92240" y="42976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PAYMENT_INSTALLMENT  —  InstallmentNo, tied to CustomerID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548640" y="5532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the weak entity's identifier is only unique in combination with its owner's key.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3" name="Image 0" descr="/home/claude/dbms_full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20040"/>
            <a:ext cx="438912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274552" y="256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</p:sp>
      <p:pic>
        <p:nvPicPr>
          <p:cNvPr id="5" name="Image 1" descr="/home/claude/dbms_full/logo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320040"/>
            <a:ext cx="438912" cy="43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  ·  DBMS  ·  CSA05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48640" y="8686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548640" y="1691640"/>
            <a:ext cx="685800" cy="502920"/>
          </a:xfrm>
          <a:prstGeom prst="roundRect">
            <a:avLst>
              <a:gd name="adj" fmla="val 16364"/>
            </a:avLst>
          </a:prstGeom>
          <a:solidFill>
            <a:srgbClr val="8B5CF6"/>
          </a:solidFill>
          <a:ln/>
        </p:spPr>
      </p:sp>
      <p:sp>
        <p:nvSpPr>
          <p:cNvPr id="9" name="Text 5"/>
          <p:cNvSpPr/>
          <p:nvPr/>
        </p:nvSpPr>
        <p:spPr>
          <a:xfrm>
            <a:off x="548640" y="169164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417320" y="1618488"/>
            <a:ext cx="10195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modeling captures every real entity and relationship in the library system before a single table is built.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560320"/>
            <a:ext cx="685800" cy="502920"/>
          </a:xfrm>
          <a:prstGeom prst="roundRect">
            <a:avLst>
              <a:gd name="adj" fmla="val 16364"/>
            </a:avLst>
          </a:prstGeom>
          <a:solidFill>
            <a:srgbClr val="8B5CF6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" y="256032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17320" y="2487168"/>
            <a:ext cx="10195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EER model extends ER with generalization and specialization, letting subclasses like STUDENT and FACULTY inherit from PERSON.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429000"/>
            <a:ext cx="685800" cy="502920"/>
          </a:xfrm>
          <a:prstGeom prst="roundRect">
            <a:avLst>
              <a:gd name="adj" fmla="val 16364"/>
            </a:avLst>
          </a:prstGeom>
          <a:solidFill>
            <a:srgbClr val="8B5CF6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" y="342900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417320" y="3355848"/>
            <a:ext cx="10195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 physical data independence let each layer of the three-schema architecture change without breaking the others.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4297680"/>
            <a:ext cx="685800" cy="502920"/>
          </a:xfrm>
          <a:prstGeom prst="roundRect">
            <a:avLst>
              <a:gd name="adj" fmla="val 16364"/>
            </a:avLst>
          </a:prstGeom>
          <a:solidFill>
            <a:srgbClr val="8B5CF6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" y="429768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417320" y="4224528"/>
            <a:ext cx="10195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Processor, Storage Manager, and Transaction Manager work together on every single request the DBMS handles.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5166360"/>
            <a:ext cx="685800" cy="502920"/>
          </a:xfrm>
          <a:prstGeom prst="roundRect">
            <a:avLst>
              <a:gd name="adj" fmla="val 16364"/>
            </a:avLst>
          </a:prstGeom>
          <a:solidFill>
            <a:srgbClr val="8B5CF6"/>
          </a:solidFill>
          <a:ln/>
        </p:spPr>
      </p:sp>
      <p:sp>
        <p:nvSpPr>
          <p:cNvPr id="21" name="Text 17"/>
          <p:cNvSpPr/>
          <p:nvPr/>
        </p:nvSpPr>
        <p:spPr>
          <a:xfrm>
            <a:off x="548640" y="516636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17320" y="5093208"/>
            <a:ext cx="10195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strong from weak entities ensures every record — even a dependent one — can still be uniquely identified.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 ·  DBMS Architecture, Data Models &amp; ER/EER Modeling  ·  SIMATS Engineering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2026-07-24T03:17:50Z</dcterms:created>
  <dcterms:modified xsi:type="dcterms:W3CDTF">2026-07-24T03:17:50Z</dcterms:modified>
</cp:coreProperties>
</file>